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11c2c05650748d1" /><Relationship Type="http://schemas.openxmlformats.org/officeDocument/2006/relationships/extended-properties" Target="/docProps/app.xml" Id="R530a891d1c3846ce" /><Relationship Type="http://schemas.openxmlformats.org/officeDocument/2006/relationships/officeDocument" Target="/ppt/presentation.xml" Id="R986eea82b7f14c2f" /></Relationships>
</file>

<file path=ppt/presentation.xml><?xml version="1.0" encoding="utf-8"?>
<p:presentation xmlns:p="http://schemas.openxmlformats.org/presentationml/2006/main">
  <p:sldMasterIdLst>
    <p:sldMasterId xmlns:r="http://schemas.openxmlformats.org/officeDocument/2006/relationships" id="2147483648" r:id="R14825eb09dfa4785"/>
  </p:sldMasterIdLst>
  <p:notesMasterIdLst>
    <p:notesMasterId xmlns:r="http://schemas.openxmlformats.org/officeDocument/2006/relationships" r:id="R60b449f859ae4a36"/>
  </p:notesMasterIdLst>
  <p:sldIdLst>
    <p:sldId xmlns:r="http://schemas.openxmlformats.org/officeDocument/2006/relationships" id="256" r:id="R089787fa59b84044"/>
    <p:sldId xmlns:r="http://schemas.openxmlformats.org/officeDocument/2006/relationships" id="257" r:id="Rfcfc546dd23543a0"/>
    <p:sldId xmlns:r="http://schemas.openxmlformats.org/officeDocument/2006/relationships" id="258" r:id="Rb05ed4fbf15f4f58"/>
    <p:sldId xmlns:r="http://schemas.openxmlformats.org/officeDocument/2006/relationships" id="259" r:id="Rf5c7f2860689408d"/>
    <p:sldId xmlns:r="http://schemas.openxmlformats.org/officeDocument/2006/relationships" id="260" r:id="R6b93824245d745c3"/>
    <p:sldId xmlns:r="http://schemas.openxmlformats.org/officeDocument/2006/relationships" id="261" r:id="Rd22e39f2856e40e5"/>
    <p:sldId xmlns:r="http://schemas.openxmlformats.org/officeDocument/2006/relationships" id="262" r:id="Rac37709107b74ed3"/>
    <p:sldId xmlns:r="http://schemas.openxmlformats.org/officeDocument/2006/relationships" id="263" r:id="Rdceb9d23a3d94516"/>
    <p:sldId xmlns:r="http://schemas.openxmlformats.org/officeDocument/2006/relationships" id="264" r:id="R89c0709cd2b54b1f"/>
    <p:sldId xmlns:r="http://schemas.openxmlformats.org/officeDocument/2006/relationships" id="265" r:id="R8a4f45bf60ae4609"/>
    <p:sldId xmlns:r="http://schemas.openxmlformats.org/officeDocument/2006/relationships" id="266" r:id="R8b54b55dbfe14b32"/>
    <p:sldId xmlns:r="http://schemas.openxmlformats.org/officeDocument/2006/relationships" id="267" r:id="R1bdbeab6cefb46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8a1cff555924005" /><Relationship Type="http://schemas.openxmlformats.org/officeDocument/2006/relationships/slideMaster" Target="/ppt/slideMasters/slideMaster1.xml" Id="R14825eb09dfa4785" /><Relationship Type="http://schemas.openxmlformats.org/officeDocument/2006/relationships/notesMaster" Target="/ppt/notesMasters/notesMaster1.xml" Id="R60b449f859ae4a36" /><Relationship Type="http://schemas.openxmlformats.org/officeDocument/2006/relationships/presProps" Target="/ppt/presProps.xml" Id="Rd02836dab46e434c" /><Relationship Type="http://schemas.openxmlformats.org/officeDocument/2006/relationships/tableStyles" Target="/ppt/tableStyles.xml" Id="Rea270347e4cd4b4a" /><Relationship Type="http://schemas.openxmlformats.org/officeDocument/2006/relationships/slide" Target="/ppt/slides/slide1.xml" Id="R089787fa59b84044" /><Relationship Type="http://schemas.openxmlformats.org/officeDocument/2006/relationships/slide" Target="/ppt/slides/slide2.xml" Id="Rfcfc546dd23543a0" /><Relationship Type="http://schemas.openxmlformats.org/officeDocument/2006/relationships/slide" Target="/ppt/slides/slide3.xml" Id="Rb05ed4fbf15f4f58" /><Relationship Type="http://schemas.openxmlformats.org/officeDocument/2006/relationships/slide" Target="/ppt/slides/slide4.xml" Id="Rf5c7f2860689408d" /><Relationship Type="http://schemas.openxmlformats.org/officeDocument/2006/relationships/slide" Target="/ppt/slides/slide5.xml" Id="R6b93824245d745c3" /><Relationship Type="http://schemas.openxmlformats.org/officeDocument/2006/relationships/slide" Target="/ppt/slides/slide6.xml" Id="Rd22e39f2856e40e5" /><Relationship Type="http://schemas.openxmlformats.org/officeDocument/2006/relationships/slide" Target="/ppt/slides/slide7.xml" Id="Rac37709107b74ed3" /><Relationship Type="http://schemas.openxmlformats.org/officeDocument/2006/relationships/slide" Target="/ppt/slides/slide8.xml" Id="Rdceb9d23a3d94516" /><Relationship Type="http://schemas.openxmlformats.org/officeDocument/2006/relationships/slide" Target="/ppt/slides/slide9.xml" Id="R89c0709cd2b54b1f" /><Relationship Type="http://schemas.openxmlformats.org/officeDocument/2006/relationships/slide" Target="/ppt/slides/slide10.xml" Id="R8a4f45bf60ae4609" /><Relationship Type="http://schemas.openxmlformats.org/officeDocument/2006/relationships/slide" Target="/ppt/slides/slide11.xml" Id="R8b54b55dbfe14b32" /><Relationship Type="http://schemas.openxmlformats.org/officeDocument/2006/relationships/slide" Target="/ppt/slides/slide12.xml" Id="R1bdbeab6cefb46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420dbfda5a4b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6e07f886e04dfc" /><Relationship Type="http://schemas.openxmlformats.org/officeDocument/2006/relationships/notesMaster" Target="/ppt/notesMasters/notesMaster1.xml" Id="R6021d2b4132d4e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6d5720fcc24ce8" /><Relationship Type="http://schemas.openxmlformats.org/officeDocument/2006/relationships/notesMaster" Target="/ppt/notesMasters/notesMaster1.xml" Id="R463d36392080435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51d95f2c5c4c92" /><Relationship Type="http://schemas.openxmlformats.org/officeDocument/2006/relationships/notesMaster" Target="/ppt/notesMasters/notesMaster1.xml" Id="R9a63549daaee43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c8d9ad8f354dfc" /><Relationship Type="http://schemas.openxmlformats.org/officeDocument/2006/relationships/notesMaster" Target="/ppt/notesMasters/notesMaster1.xml" Id="R869ccc07e1844a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7f2c1b7c48946b2" /><Relationship Type="http://schemas.openxmlformats.org/officeDocument/2006/relationships/notesMaster" Target="/ppt/notesMasters/notesMaster1.xml" Id="R89c8bdf9730841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20ab66ad574898" /><Relationship Type="http://schemas.openxmlformats.org/officeDocument/2006/relationships/notesMaster" Target="/ppt/notesMasters/notesMaster1.xml" Id="R1a8ea9645f5246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e649dcf3d524d71" /><Relationship Type="http://schemas.openxmlformats.org/officeDocument/2006/relationships/notesMaster" Target="/ppt/notesMasters/notesMaster1.xml" Id="Rf33dceb99fdb409a"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eb357b6f084e38" /><Relationship Type="http://schemas.openxmlformats.org/officeDocument/2006/relationships/notesMaster" Target="/ppt/notesMasters/notesMaster1.xml" Id="Rf4ef3892ca8b4b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d4eb331ce24f3f" /><Relationship Type="http://schemas.openxmlformats.org/officeDocument/2006/relationships/notesMaster" Target="/ppt/notesMasters/notesMaster1.xml" Id="R1b4f8ef103fa4d8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adc61d1c0004acf" /><Relationship Type="http://schemas.openxmlformats.org/officeDocument/2006/relationships/notesMaster" Target="/ppt/notesMasters/notesMaster1.xml" Id="R43fc078c1d2c4f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acada508f74185" /><Relationship Type="http://schemas.openxmlformats.org/officeDocument/2006/relationships/notesMaster" Target="/ppt/notesMasters/notesMaster1.xml" Id="R6fec36a6429748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56d0687a59c493d" /><Relationship Type="http://schemas.openxmlformats.org/officeDocument/2006/relationships/notesMaster" Target="/ppt/notesMasters/notesMaster1.xml" Id="Rbd75fb1b9b4144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founder project. Evidence and assumptions as of 2026-10-29. No investor or financing commitment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Buyer hypothesis: travel/concierge agent teams that already propose places. IAM/tool permission and preference authority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https://openai.com/index/introducing-apps-in-chatgpt/ and https://help.openai.com/en/articles/6825453-chatgpt-release-notes. https://hai.stanford.edu/ai-index/2026-ai-index-report/economy reports 88% organizational AI use but agent deployment in single digits across nearly all business functions. Platform availability is not TastePolicy adoption.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Qloo affinity is not authorization. Qloo owns the cultural graph. Written commercial/output rights and pricing are pending the official sales inquiry. See docs/company/qloo-commercial-and-data.md.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Fresh production acceptance proves guided enrollment, owner workspace/project/environment/agent metadata, API credentials, SDK/A2A, export, lease/proof revocation and disposable-account deletion. Workspaces are single-owner; logical environments are not physical isolation. Stripe TEST implementation is merged but no provider checkout is commissioned. Verification is not authorization. Payment, booking and legal authority stay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fully commissioned release at preparation: main 4b58ff11c49c59141a2dad3d2aebd65d36d0d5d8, Vercel production dpl_4vtyd3S2F7z5B53gohM9vBJbxAQA. Exact-main Verify 40802738876, secret scan 40802738952, hosted acceptance 40803876959 and registry verification 40804041077 passed. Operations/benchmark/developer PR21 at 85c6b4e passed Verify 40802776822 and hosted acceptance 40802776853, then merged as main 165bb862cce6ee9f32e2bce2ba4f25f288020f86; its main/deployment checks remain pending. Official MCP Registry io.github.VictorCyberDev/tastepolicy@0.2.0 is active. No real TastePolicy ChatGPT/Claude tool invocation, OpenAI/Claude directory approval, npm publication or provider billing commissioning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source docs/evaluation/wg-c-human-pilot-report.md. Unsafe autonomy 14/150; incorrect REJECT 2/10; UNAVAILABLE agreement 9/32; 20/180 unscorable. Synthetic-scenario judgments, not execution harms or population validation. New TasteBench v2: 525 synthetic component cases; deterministic evaluation subset 132 cases gives state policy 132/132, affinity only 102/132 and conservative rules 82/132. It is contract coverage, not live Qloo relevance, a generic LLM study, new human labels or a full-system competitive victory. See tastebench-v2-methodology.md. Separate actual ChatGPT browser observation: full written contract, sixteen preselected synthetic cases, 13/16 exact and one unsafe ALLOW; one run only, exact model identity not exposed, not independent replication or MCP commissioning.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Cerbos developer USD25/month and production USD933/month; Oso Growth USD15/user/month; Authzed cloud USD2/hour, as researched in pricing-research.md. Units differ. Qloo commercial cost is unknown. Stripe TEST checkout/webhook code is merged, but provider account commissioning and live paid entitlement remain unproved. USD49 is an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BLS software developers outlook: 1,693,800 US developer jobs in 2024. Assume ten developers per team: 169,380 team equivalents. USD588 hypothetical annual price yields a USD99.60m broad proxy; an assumed ten-percent relevance yields USD9.96m. Jobs are not buyer companies. No measured TAM or contracted pipeline. See market-and-economics.json and the cited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Targets only. At an assumed 20% trial-to-paid conversion, 100 paying workspaces require 500 qualified trials. At 30% signup-to-trial: approximately 1,667 signups. At 5% visitor-to-signup: approximately 33,340 qualified visitors. No observed conversion, customers or revenue. No outreach sent from this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Prompt/memory, Qloo recommendation, deterministic rules and operational authorization vendors are alternatives. No apples-to-apples competitive result exists. Apache source remains open. No patents, exclusive rights, compliance certifications or proprietary dataset monopoly claimed. See licensing-and-ip.md and security/operations.md.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Budget hypothesis: USD275k product/engineering; USD75k provider/infrastructure/reliability; USD50k security/legal/privacy; USD50k discovery/distribution; USD50k reserve. USD450k over eighteen months gives USD25k monthly operating budget. No salaries or vendor quotes are approved. Milestones include written Qloo terms, expanded tenant controls, provider billing commissioning, real assistants/listings, historical recovery and deployed monitoring, independently labeled evaluation and a first paid cohort. No financing terms, corporate entity or cap table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c0f9a705dc411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d051600f454bd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037279d7adf41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c33044da95485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0f60077a38141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c163a20e1f4b6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B98056-E4EA-4C3C-A796-5DAE485DFA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DE98722-EA4C-4430-B4D7-62F51FE20D7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C5FC5C-456E-4765-8F18-77673F944B8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887370-8472-47C1-A696-C86843A7A95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13694BC-3CA3-4115-89C9-9F5DF652939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E9B1977-1539-484D-90A7-C7B9BD32E2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1F5EC8-86D1-453A-B5D2-30D1AAFBE2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3001084-5471-46D9-8856-F9B5E547E42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678725-C118-4ECB-84C7-EDBB3A4012A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FAF40F-7215-4B80-A55C-10E1AB4D44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d439ccc695542e4" /><Relationship Type="http://schemas.openxmlformats.org/officeDocument/2006/relationships/slideLayout" Target="/ppt/slideLayouts/slideLayout1.xml" Id="R62d9a8a0aad64b54" /><Relationship Type="http://schemas.openxmlformats.org/officeDocument/2006/relationships/slideLayout" Target="/ppt/slideLayouts/slideLayout2.xml" Id="R66590500febc4874" /><Relationship Type="http://schemas.openxmlformats.org/officeDocument/2006/relationships/slideLayout" Target="/ppt/slideLayouts/slideLayout3.xml" Id="Raadf6026bd364bd7" /><Relationship Type="http://schemas.openxmlformats.org/officeDocument/2006/relationships/slideLayout" Target="/ppt/slideLayouts/slideLayout4.xml" Id="Rd372bcf600d045a3" /><Relationship Type="http://schemas.openxmlformats.org/officeDocument/2006/relationships/slideLayout" Target="/ppt/slideLayouts/slideLayout5.xml" Id="R6f5c812ba1014e87" /><Relationship Type="http://schemas.openxmlformats.org/officeDocument/2006/relationships/slideLayout" Target="/ppt/slideLayouts/slideLayout6.xml" Id="R9df6692805fc47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d9a8a0aad64b54"/>
    <p:sldLayoutId xmlns:r="http://schemas.openxmlformats.org/officeDocument/2006/relationships" id="2147483650" r:id="R66590500febc4874"/>
    <p:sldLayoutId xmlns:r="http://schemas.openxmlformats.org/officeDocument/2006/relationships" id="2147483651" r:id="Raadf6026bd364bd7"/>
    <p:sldLayoutId xmlns:r="http://schemas.openxmlformats.org/officeDocument/2006/relationships" id="2147483652" r:id="Rd372bcf600d045a3"/>
    <p:sldLayoutId xmlns:r="http://schemas.openxmlformats.org/officeDocument/2006/relationships" id="2147483653" r:id="R6f5c812ba1014e87"/>
    <p:sldLayoutId xmlns:r="http://schemas.openxmlformats.org/officeDocument/2006/relationships" id="2147483654" r:id="R9df6692805fc47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15981ed32e849c2" /><Relationship Type="http://schemas.openxmlformats.org/officeDocument/2006/relationships/notesSlide" Target="/ppt/notesSlides/notesSlide1.xml" Id="Rc1207a6d6efe4d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a6025e80abe4a81" /><Relationship Type="http://schemas.openxmlformats.org/officeDocument/2006/relationships/notesSlide" Target="/ppt/notesSlides/notesSlide2.xml" Id="R40725728908748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cc4beae0c74437" /><Relationship Type="http://schemas.openxmlformats.org/officeDocument/2006/relationships/notesSlide" Target="/ppt/notesSlides/notesSlide3.xml" Id="R14c0490df0dd40a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64ab3fcc3a4ad4" /><Relationship Type="http://schemas.openxmlformats.org/officeDocument/2006/relationships/notesSlide" Target="/ppt/notesSlides/notesSlide4.xml" Id="Radcb7473b4504b1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94c95b0943a4c08" /><Relationship Type="http://schemas.openxmlformats.org/officeDocument/2006/relationships/image" Target="/ppt/media/image.png" Id="R8da0df8b03224ad3" /><Relationship Type="http://schemas.openxmlformats.org/officeDocument/2006/relationships/notesSlide" Target="/ppt/notesSlides/notesSlide5.xml" Id="R7ca198004f7c4d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8f370ce194d4de9" /><Relationship Type="http://schemas.openxmlformats.org/officeDocument/2006/relationships/notesSlide" Target="/ppt/notesSlides/notesSlide6.xml" Id="Ra290549a7a6841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2a7fcbe69ff48c8" /><Relationship Type="http://schemas.openxmlformats.org/officeDocument/2006/relationships/notesSlide" Target="/ppt/notesSlides/notesSlide7.xml" Id="R4ef25364b1b547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0723457de03446f" /><Relationship Type="http://schemas.openxmlformats.org/officeDocument/2006/relationships/notesSlide" Target="/ppt/notesSlides/notesSlide8.xml" Id="R3b472352ba1a46c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ebf9c384534c81" /><Relationship Type="http://schemas.openxmlformats.org/officeDocument/2006/relationships/notesSlide" Target="/ppt/notesSlides/notesSlide9.xml" Id="Rfbe08a51d9a54c8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3d3ec28af584718" /><Relationship Type="http://schemas.openxmlformats.org/officeDocument/2006/relationships/notesSlide" Target="/ppt/notesSlides/notesSlide10.xml" Id="R2b99624d9776499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1de019ce6ea4fc1" /><Relationship Type="http://schemas.openxmlformats.org/officeDocument/2006/relationships/notesSlide" Target="/ppt/notesSlides/notesSlide11.xml" Id="R86e462f13bd74a0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082690908bb4b3f" /><Relationship Type="http://schemas.openxmlformats.org/officeDocument/2006/relationships/notesSlide" Target="/ppt/notesSlides/notesSlide12.xml" Id="Re689e6d64f25422a" /></Relationships>
</file>

<file path=ppt/slides/slide1.xml><?xml version="1.0" encoding="utf-8"?>
<p:sld xmlns:p="http://schemas.openxmlformats.org/presentationml/2006/main">
  <p:cSld>
    <p:bg>
      <p:bgPr>
        <a:solidFill xmlns:a="http://schemas.openxmlformats.org/drawingml/2006/main">
          <a:srgbClr val="20292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1E084C4-2D98-4437-B5CA-2BDD2B8096B1}"/>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5400" b="1">
                <a:solidFill>
                  <a:srgbClr val="F6F3EC"/>
                </a:solidFill>
                <a:latin typeface="DejaVu Sans"/>
                <a:ea typeface="DejaVu Sans"/>
                <a:cs typeface="DejaVu Sans"/>
              </a:defRPr>
            </a:defPPr>
            <a:lvl1pPr>
              <a:defRPr sz="5400" b="1">
                <a:solidFill>
                  <a:srgbClr val="F6F3EC"/>
                </a:solidFill>
                <a:latin typeface="DejaVu Sans"/>
                <a:ea typeface="DejaVu Sans"/>
                <a:cs typeface="DejaVu Sans"/>
              </a:defRPr>
            </a:lvl1pPr>
            <a:lvl2pPr>
              <a:defRPr sz="5400" b="1">
                <a:solidFill>
                  <a:srgbClr val="F6F3EC"/>
                </a:solidFill>
                <a:latin typeface="DejaVu Sans"/>
                <a:ea typeface="DejaVu Sans"/>
                <a:cs typeface="DejaVu Sans"/>
              </a:defRPr>
            </a:lvl2pPr>
            <a:lvl3pPr>
              <a:defRPr sz="5400" b="1">
                <a:solidFill>
                  <a:srgbClr val="F6F3EC"/>
                </a:solidFill>
                <a:latin typeface="DejaVu Sans"/>
                <a:ea typeface="DejaVu Sans"/>
                <a:cs typeface="DejaVu Sans"/>
              </a:defRPr>
            </a:lvl3pPr>
            <a:lvl4pPr>
              <a:defRPr sz="5400" b="1">
                <a:solidFill>
                  <a:srgbClr val="F6F3EC"/>
                </a:solidFill>
                <a:latin typeface="DejaVu Sans"/>
                <a:ea typeface="DejaVu Sans"/>
                <a:cs typeface="DejaVu Sans"/>
              </a:defRPr>
            </a:lvl4pPr>
            <a:lvl5pPr>
              <a:defRPr sz="5400" b="1">
                <a:solidFill>
                  <a:srgbClr val="F6F3EC"/>
                </a:solidFill>
                <a:latin typeface="DejaVu Sans"/>
                <a:ea typeface="DejaVu Sans"/>
                <a:cs typeface="DejaVu Sans"/>
              </a:defRPr>
            </a:lvl5pPr>
            <a:lvl6pPr>
              <a:defRPr sz="5400" b="1">
                <a:solidFill>
                  <a:srgbClr val="F6F3EC"/>
                </a:solidFill>
                <a:latin typeface="DejaVu Sans"/>
                <a:ea typeface="DejaVu Sans"/>
                <a:cs typeface="DejaVu Sans"/>
              </a:defRPr>
            </a:lvl6pPr>
            <a:lvl7pPr>
              <a:defRPr sz="5400" b="1">
                <a:solidFill>
                  <a:srgbClr val="F6F3EC"/>
                </a:solidFill>
                <a:latin typeface="DejaVu Sans"/>
                <a:ea typeface="DejaVu Sans"/>
                <a:cs typeface="DejaVu Sans"/>
              </a:defRPr>
            </a:lvl7pPr>
            <a:lvl8pPr>
              <a:defRPr sz="5400" b="1">
                <a:solidFill>
                  <a:srgbClr val="F6F3EC"/>
                </a:solidFill>
                <a:latin typeface="DejaVu Sans"/>
                <a:ea typeface="DejaVu Sans"/>
                <a:cs typeface="DejaVu Sans"/>
              </a:defRPr>
            </a:lvl8pPr>
            <a:lvl9pPr>
              <a:defRPr sz="5400" b="1">
                <a:solidFill>
                  <a:srgbClr val="F6F3EC"/>
                </a:solidFill>
                <a:latin typeface="DejaVu Sans"/>
                <a:ea typeface="DejaVu Sans"/>
                <a:cs typeface="DejaVu Sans"/>
              </a:defRPr>
            </a:lvl9pPr>
          </a:lstStyle>
          <a:p xmlns:a="http://schemas.openxmlformats.org/drawingml/2006/main">
            <a:pPr>
              <a:defRPr sz="5400" b="1">
                <a:solidFill>
                  <a:srgbClr val="F6F3EC"/>
                </a:solidFill>
                <a:latin typeface="DejaVu Sans"/>
                <a:ea typeface="DejaVu Sans"/>
                <a:cs typeface="DejaVu Sans"/>
              </a:defRPr>
            </a:pPr>
            <a:r>
              <a:rPr sz="5400" b="1">
                <a:solidFill>
                  <a:srgbClr val="F6F3EC"/>
                </a:solidFill>
                <a:latin typeface="DejaVu Sans"/>
                <a:ea typeface="DejaVu Sans"/>
                <a:cs typeface="DejaVu Sans"/>
              </a:rPr>
              <a:t>TastePolicy</a:t>
            </a:r>
          </a:p>
        </p:txBody>
      </p:sp>
      <p:sp>
        <p:nvSpPr>
          <p:cNvPr id="2" name="">
            <a:extLst xmlns:a="http://schemas.openxmlformats.org/drawingml/2006/main">
              <a:ext uri="{FF2B5EF4-FFF2-40B4-BE49-F238E27FC236}">
                <a16:creationId xmlns:a16="http://schemas.microsoft.com/office/drawing/2014/main" id="{A98CC371-099F-4F81-AA9C-35DF74C72759}"/>
              </a:ext>
            </a:extLst>
          </p:cNvPr>
          <p:cNvSpPr>
            <a:spLocks xmlns:a="http://schemas.openxmlformats.org/drawingml/2006/main" noGrp="1"/>
          </p:cNvSpPr>
          <p:nvPr/>
        </p:nvSpPr>
        <p:spPr>
          <a:xfrm xmlns:a="http://schemas.openxmlformats.org/drawingml/2006/main">
            <a:off x="723900" y="224790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0">
                <a:solidFill>
                  <a:srgbClr val="F6F3EC"/>
                </a:solidFill>
                <a:latin typeface="DejaVu Sans"/>
                <a:ea typeface="DejaVu Sans"/>
                <a:cs typeface="DejaVu Sans"/>
              </a:defRPr>
            </a:defPPr>
            <a:lvl1pPr>
              <a:defRPr sz="3300" b="0">
                <a:solidFill>
                  <a:srgbClr val="F6F3EC"/>
                </a:solidFill>
                <a:latin typeface="DejaVu Sans"/>
                <a:ea typeface="DejaVu Sans"/>
                <a:cs typeface="DejaVu Sans"/>
              </a:defRPr>
            </a:lvl1pPr>
            <a:lvl2pPr>
              <a:defRPr sz="3300" b="0">
                <a:solidFill>
                  <a:srgbClr val="F6F3EC"/>
                </a:solidFill>
                <a:latin typeface="DejaVu Sans"/>
                <a:ea typeface="DejaVu Sans"/>
                <a:cs typeface="DejaVu Sans"/>
              </a:defRPr>
            </a:lvl2pPr>
            <a:lvl3pPr>
              <a:defRPr sz="3300" b="0">
                <a:solidFill>
                  <a:srgbClr val="F6F3EC"/>
                </a:solidFill>
                <a:latin typeface="DejaVu Sans"/>
                <a:ea typeface="DejaVu Sans"/>
                <a:cs typeface="DejaVu Sans"/>
              </a:defRPr>
            </a:lvl3pPr>
            <a:lvl4pPr>
              <a:defRPr sz="3300" b="0">
                <a:solidFill>
                  <a:srgbClr val="F6F3EC"/>
                </a:solidFill>
                <a:latin typeface="DejaVu Sans"/>
                <a:ea typeface="DejaVu Sans"/>
                <a:cs typeface="DejaVu Sans"/>
              </a:defRPr>
            </a:lvl4pPr>
            <a:lvl5pPr>
              <a:defRPr sz="3300" b="0">
                <a:solidFill>
                  <a:srgbClr val="F6F3EC"/>
                </a:solidFill>
                <a:latin typeface="DejaVu Sans"/>
                <a:ea typeface="DejaVu Sans"/>
                <a:cs typeface="DejaVu Sans"/>
              </a:defRPr>
            </a:lvl5pPr>
            <a:lvl6pPr>
              <a:defRPr sz="3300" b="0">
                <a:solidFill>
                  <a:srgbClr val="F6F3EC"/>
                </a:solidFill>
                <a:latin typeface="DejaVu Sans"/>
                <a:ea typeface="DejaVu Sans"/>
                <a:cs typeface="DejaVu Sans"/>
              </a:defRPr>
            </a:lvl6pPr>
            <a:lvl7pPr>
              <a:defRPr sz="3300" b="0">
                <a:solidFill>
                  <a:srgbClr val="F6F3EC"/>
                </a:solidFill>
                <a:latin typeface="DejaVu Sans"/>
                <a:ea typeface="DejaVu Sans"/>
                <a:cs typeface="DejaVu Sans"/>
              </a:defRPr>
            </a:lvl7pPr>
            <a:lvl8pPr>
              <a:defRPr sz="3300" b="0">
                <a:solidFill>
                  <a:srgbClr val="F6F3EC"/>
                </a:solidFill>
                <a:latin typeface="DejaVu Sans"/>
                <a:ea typeface="DejaVu Sans"/>
                <a:cs typeface="DejaVu Sans"/>
              </a:defRPr>
            </a:lvl8pPr>
            <a:lvl9pPr>
              <a:defRPr sz="3300" b="0">
                <a:solidFill>
                  <a:srgbClr val="F6F3EC"/>
                </a:solidFill>
                <a:latin typeface="DejaVu Sans"/>
                <a:ea typeface="DejaVu Sans"/>
                <a:cs typeface="DejaVu Sans"/>
              </a:defRPr>
            </a:lvl9pPr>
          </a:lstStyle>
          <a:p xmlns:a="http://schemas.openxmlformats.org/drawingml/2006/main">
            <a:pPr>
              <a:defRPr sz="3300" b="0">
                <a:solidFill>
                  <a:srgbClr val="F6F3EC"/>
                </a:solidFill>
                <a:latin typeface="DejaVu Sans"/>
                <a:ea typeface="DejaVu Sans"/>
                <a:cs typeface="DejaVu Sans"/>
              </a:defRPr>
            </a:pPr>
            <a:r>
              <a:rPr sz="3300" b="0">
                <a:solidFill>
                  <a:srgbClr val="F6F3EC"/>
                </a:solidFill>
                <a:latin typeface="DejaVu Sans"/>
                <a:ea typeface="DejaVu Sans"/>
                <a:cs typeface="DejaVu Sans"/>
              </a:rPr>
              <a:t>Subjective Authority Infrastructure</a:t>
            </a:r>
          </a:p>
          <a:p xmlns:a="http://schemas.openxmlformats.org/drawingml/2006/main">
            <a:pPr>
              <a:defRPr sz="3300" b="0">
                <a:solidFill>
                  <a:srgbClr val="F6F3EC"/>
                </a:solidFill>
                <a:latin typeface="DejaVu Sans"/>
                <a:ea typeface="DejaVu Sans"/>
                <a:cs typeface="DejaVu Sans"/>
              </a:defRPr>
            </a:pPr>
            <a:r>
              <a:rPr sz="3300" b="0">
                <a:solidFill>
                  <a:srgbClr val="F6F3EC"/>
                </a:solidFill>
                <a:latin typeface="DejaVu Sans"/>
                <a:ea typeface="DejaVu Sans"/>
                <a:cs typeface="DejaVu Sans"/>
              </a:rPr>
              <a:t>for AI Agents</a:t>
            </a:r>
          </a:p>
        </p:txBody>
      </p:sp>
      <p:sp>
        <p:nvSpPr>
          <p:cNvPr id="3" name="">
            <a:extLst xmlns:a="http://schemas.openxmlformats.org/drawingml/2006/main">
              <a:ext uri="{FF2B5EF4-FFF2-40B4-BE49-F238E27FC236}">
                <a16:creationId xmlns:a16="http://schemas.microsoft.com/office/drawing/2014/main" id="{668A5E53-5A27-4785-BE33-93898A4A22BC}"/>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9CEBE"/>
                </a:solidFill>
                <a:latin typeface="DejaVu Sans"/>
                <a:ea typeface="DejaVu Sans"/>
                <a:cs typeface="DejaVu Sans"/>
              </a:defRPr>
            </a:defPPr>
            <a:lvl1pPr>
              <a:defRPr sz="1800" b="0">
                <a:solidFill>
                  <a:srgbClr val="B9CEBE"/>
                </a:solidFill>
                <a:latin typeface="DejaVu Sans"/>
                <a:ea typeface="DejaVu Sans"/>
                <a:cs typeface="DejaVu Sans"/>
              </a:defRPr>
            </a:lvl1pPr>
            <a:lvl2pPr>
              <a:defRPr sz="1800" b="0">
                <a:solidFill>
                  <a:srgbClr val="B9CEBE"/>
                </a:solidFill>
                <a:latin typeface="DejaVu Sans"/>
                <a:ea typeface="DejaVu Sans"/>
                <a:cs typeface="DejaVu Sans"/>
              </a:defRPr>
            </a:lvl2pPr>
            <a:lvl3pPr>
              <a:defRPr sz="1800" b="0">
                <a:solidFill>
                  <a:srgbClr val="B9CEBE"/>
                </a:solidFill>
                <a:latin typeface="DejaVu Sans"/>
                <a:ea typeface="DejaVu Sans"/>
                <a:cs typeface="DejaVu Sans"/>
              </a:defRPr>
            </a:lvl3pPr>
            <a:lvl4pPr>
              <a:defRPr sz="1800" b="0">
                <a:solidFill>
                  <a:srgbClr val="B9CEBE"/>
                </a:solidFill>
                <a:latin typeface="DejaVu Sans"/>
                <a:ea typeface="DejaVu Sans"/>
                <a:cs typeface="DejaVu Sans"/>
              </a:defRPr>
            </a:lvl4pPr>
            <a:lvl5pPr>
              <a:defRPr sz="1800" b="0">
                <a:solidFill>
                  <a:srgbClr val="B9CEBE"/>
                </a:solidFill>
                <a:latin typeface="DejaVu Sans"/>
                <a:ea typeface="DejaVu Sans"/>
                <a:cs typeface="DejaVu Sans"/>
              </a:defRPr>
            </a:lvl5pPr>
            <a:lvl6pPr>
              <a:defRPr sz="1800" b="0">
                <a:solidFill>
                  <a:srgbClr val="B9CEBE"/>
                </a:solidFill>
                <a:latin typeface="DejaVu Sans"/>
                <a:ea typeface="DejaVu Sans"/>
                <a:cs typeface="DejaVu Sans"/>
              </a:defRPr>
            </a:lvl6pPr>
            <a:lvl7pPr>
              <a:defRPr sz="1800" b="0">
                <a:solidFill>
                  <a:srgbClr val="B9CEBE"/>
                </a:solidFill>
                <a:latin typeface="DejaVu Sans"/>
                <a:ea typeface="DejaVu Sans"/>
                <a:cs typeface="DejaVu Sans"/>
              </a:defRPr>
            </a:lvl7pPr>
            <a:lvl8pPr>
              <a:defRPr sz="1800" b="0">
                <a:solidFill>
                  <a:srgbClr val="B9CEBE"/>
                </a:solidFill>
                <a:latin typeface="DejaVu Sans"/>
                <a:ea typeface="DejaVu Sans"/>
                <a:cs typeface="DejaVu Sans"/>
              </a:defRPr>
            </a:lvl8pPr>
            <a:lvl9pPr>
              <a:defRPr sz="1800" b="0">
                <a:solidFill>
                  <a:srgbClr val="B9CEBE"/>
                </a:solidFill>
                <a:latin typeface="DejaVu Sans"/>
                <a:ea typeface="DejaVu Sans"/>
                <a:cs typeface="DejaVu Sans"/>
              </a:defRPr>
            </a:lvl9pPr>
          </a:lstStyle>
          <a:p xmlns:a="http://schemas.openxmlformats.org/drawingml/2006/main">
            <a:pPr>
              <a:defRPr sz="1800" b="0">
                <a:solidFill>
                  <a:srgbClr val="B9CEBE"/>
                </a:solidFill>
                <a:latin typeface="DejaVu Sans"/>
                <a:ea typeface="DejaVu Sans"/>
                <a:cs typeface="DejaVu Sans"/>
              </a:defRPr>
            </a:pPr>
            <a:r>
              <a:rPr sz="1800" b="0">
                <a:solidFill>
                  <a:srgbClr val="B9CEBE"/>
                </a:solidFill>
                <a:latin typeface="DejaVu Sans"/>
                <a:ea typeface="DejaVu Sans"/>
                <a:cs typeface="DejaVu Sans"/>
              </a:rPr>
              <a:t>Your taste. Your rules. Any agent.</a:t>
            </a:r>
          </a:p>
        </p:txBody>
      </p:sp>
    </p:spTree>
    <p:extLst>
      <p:ext uri="{BB962C8B-B14F-4D97-AF65-F5344CB8AC3E}">
        <p14:creationId xmlns:p14="http://schemas.microsoft.com/office/powerpoint/2010/main" val="1910849112"/>
      </p:ext>
    </p:extLst>
  </p:cSld>
</p:sld>
</file>

<file path=ppt/slides/slide2.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E0F04F5-B975-46CC-806B-46FF92E9C243}"/>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The preference boundary</a:t>
            </a:r>
          </a:p>
        </p:txBody>
      </p:sp>
      <p:sp>
        <p:nvSpPr>
          <p:cNvPr id="2" name="">
            <a:extLst xmlns:a="http://schemas.openxmlformats.org/drawingml/2006/main">
              <a:ext uri="{FF2B5EF4-FFF2-40B4-BE49-F238E27FC236}">
                <a16:creationId xmlns:a16="http://schemas.microsoft.com/office/drawing/2014/main" id="{88BA6582-E4AF-4A19-8747-2622E144D474}"/>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An agent can remember what you like</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and still choose beyond your rules.</a:t>
            </a:r>
          </a:p>
        </p:txBody>
      </p:sp>
      <p:sp>
        <p:nvSpPr>
          <p:cNvPr id="3" name="">
            <a:extLst xmlns:a="http://schemas.openxmlformats.org/drawingml/2006/main">
              <a:ext uri="{FF2B5EF4-FFF2-40B4-BE49-F238E27FC236}">
                <a16:creationId xmlns:a16="http://schemas.microsoft.com/office/drawing/2014/main" id="{8A7B393F-B309-4CD5-8A7E-09875166E2C9}"/>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A recommendation needs context, a permitted action ceiling and a way to pause.</a:t>
            </a:r>
          </a:p>
        </p:txBody>
      </p:sp>
    </p:spTree>
    <p:extLst>
      <p:ext uri="{BB962C8B-B14F-4D97-AF65-F5344CB8AC3E}">
        <p14:creationId xmlns:p14="http://schemas.microsoft.com/office/powerpoint/2010/main" val="2084153055"/>
      </p:ext>
    </p:extLst>
  </p:cSld>
</p:sld>
</file>

<file path=ppt/slides/slide3.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F677602-7BBC-438C-AC27-1C8584A27557}"/>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Why now</a:t>
            </a:r>
          </a:p>
        </p:txBody>
      </p:sp>
      <p:sp>
        <p:nvSpPr>
          <p:cNvPr id="2" name="">
            <a:extLst xmlns:a="http://schemas.openxmlformats.org/drawingml/2006/main">
              <a:ext uri="{FF2B5EF4-FFF2-40B4-BE49-F238E27FC236}">
                <a16:creationId xmlns:a16="http://schemas.microsoft.com/office/drawing/2014/main" id="{7C687008-27CF-4379-8998-E66BE098F367}"/>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Conversational apps create a distribution path</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for user-controlled authority.</a:t>
            </a:r>
          </a:p>
        </p:txBody>
      </p:sp>
      <p:sp>
        <p:nvSpPr>
          <p:cNvPr id="3" name="">
            <a:extLst xmlns:a="http://schemas.openxmlformats.org/drawingml/2006/main">
              <a:ext uri="{FF2B5EF4-FFF2-40B4-BE49-F238E27FC236}">
                <a16:creationId xmlns:a16="http://schemas.microsoft.com/office/drawing/2014/main" id="{FAD2519E-1E3B-4942-AE7C-671378F088A1}"/>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MCP apps and public directories exist. Agent adoption remains early.</a:t>
            </a:r>
          </a:p>
        </p:txBody>
      </p:sp>
    </p:spTree>
    <p:extLst>
      <p:ext uri="{BB962C8B-B14F-4D97-AF65-F5344CB8AC3E}">
        <p14:creationId xmlns:p14="http://schemas.microsoft.com/office/powerpoint/2010/main" val="1257534861"/>
      </p:ext>
    </p:extLst>
  </p:cSld>
</p:sld>
</file>

<file path=ppt/slides/slide4.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EF6FF7D-8D0B-4A26-B4DC-8C59954D2667}"/>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Qloo and TastePolicy</a:t>
            </a:r>
          </a:p>
        </p:txBody>
      </p:sp>
      <p:sp>
        <p:nvSpPr>
          <p:cNvPr id="2" name="">
            <a:extLst xmlns:a="http://schemas.openxmlformats.org/drawingml/2006/main">
              <a:ext uri="{FF2B5EF4-FFF2-40B4-BE49-F238E27FC236}">
                <a16:creationId xmlns:a16="http://schemas.microsoft.com/office/drawing/2014/main" id="{AAEF2C97-15B0-44BC-8996-3A4E532024BE}"/>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Qloo supplies cultural evidence.</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TastePolicy applies explicit user boundaries.</a:t>
            </a:r>
          </a:p>
        </p:txBody>
      </p:sp>
      <p:sp>
        <p:nvSpPr>
          <p:cNvPr id="3" name="">
            <a:extLst xmlns:a="http://schemas.openxmlformats.org/drawingml/2006/main">
              <a:ext uri="{FF2B5EF4-FFF2-40B4-BE49-F238E27FC236}">
                <a16:creationId xmlns:a16="http://schemas.microsoft.com/office/drawing/2014/main" id="{4FDDFDBB-0C75-4FE5-BCBB-79A16B5BDC0B}"/>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ALLOW   ASK   REJECT   UNAVAILABLE</a:t>
            </a:r>
          </a:p>
        </p:txBody>
      </p:sp>
    </p:spTree>
    <p:extLst>
      <p:ext uri="{BB962C8B-B14F-4D97-AF65-F5344CB8AC3E}">
        <p14:creationId xmlns:p14="http://schemas.microsoft.com/office/powerpoint/2010/main" val="2144955793"/>
      </p:ext>
    </p:extLst>
  </p:cSld>
</p:sld>
</file>

<file path=ppt/slides/slide5.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AA02A39-407B-407A-9A77-E0E0EB58B431}"/>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Product and developer path</a:t>
            </a:r>
          </a:p>
        </p:txBody>
      </p:sp>
      <p:sp>
        <p:nvSpPr>
          <p:cNvPr id="2" name="">
            <a:extLst xmlns:a="http://schemas.openxmlformats.org/drawingml/2006/main">
              <a:ext uri="{FF2B5EF4-FFF2-40B4-BE49-F238E27FC236}">
                <a16:creationId xmlns:a16="http://schemas.microsoft.com/office/drawing/2014/main" id="{C31F2709-2A35-40EB-A20C-D8D299D79C4B}"/>
              </a:ext>
            </a:extLst>
          </p:cNvPr>
          <p:cNvSpPr>
            <a:spLocks xmlns:a="http://schemas.openxmlformats.org/drawingml/2006/main" noGrp="1"/>
          </p:cNvSpPr>
          <p:nvPr/>
        </p:nvSpPr>
        <p:spPr>
          <a:xfrm xmlns:a="http://schemas.openxmlformats.org/drawingml/2006/main">
            <a:off x="723900" y="2000250"/>
            <a:ext cx="4953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550" b="0">
                <a:solidFill>
                  <a:srgbClr val="202924"/>
                </a:solidFill>
                <a:latin typeface="DejaVu Sans"/>
                <a:ea typeface="DejaVu Sans"/>
                <a:cs typeface="DejaVu Sans"/>
              </a:defRPr>
            </a:defPPr>
            <a:lvl1pPr>
              <a:defRPr sz="2550" b="0">
                <a:solidFill>
                  <a:srgbClr val="202924"/>
                </a:solidFill>
                <a:latin typeface="DejaVu Sans"/>
                <a:ea typeface="DejaVu Sans"/>
                <a:cs typeface="DejaVu Sans"/>
              </a:defRPr>
            </a:lvl1pPr>
            <a:lvl2pPr>
              <a:defRPr sz="2550" b="0">
                <a:solidFill>
                  <a:srgbClr val="202924"/>
                </a:solidFill>
                <a:latin typeface="DejaVu Sans"/>
                <a:ea typeface="DejaVu Sans"/>
                <a:cs typeface="DejaVu Sans"/>
              </a:defRPr>
            </a:lvl2pPr>
            <a:lvl3pPr>
              <a:defRPr sz="2550" b="0">
                <a:solidFill>
                  <a:srgbClr val="202924"/>
                </a:solidFill>
                <a:latin typeface="DejaVu Sans"/>
                <a:ea typeface="DejaVu Sans"/>
                <a:cs typeface="DejaVu Sans"/>
              </a:defRPr>
            </a:lvl3pPr>
            <a:lvl4pPr>
              <a:defRPr sz="2550" b="0">
                <a:solidFill>
                  <a:srgbClr val="202924"/>
                </a:solidFill>
                <a:latin typeface="DejaVu Sans"/>
                <a:ea typeface="DejaVu Sans"/>
                <a:cs typeface="DejaVu Sans"/>
              </a:defRPr>
            </a:lvl4pPr>
            <a:lvl5pPr>
              <a:defRPr sz="2550" b="0">
                <a:solidFill>
                  <a:srgbClr val="202924"/>
                </a:solidFill>
                <a:latin typeface="DejaVu Sans"/>
                <a:ea typeface="DejaVu Sans"/>
                <a:cs typeface="DejaVu Sans"/>
              </a:defRPr>
            </a:lvl5pPr>
            <a:lvl6pPr>
              <a:defRPr sz="2550" b="0">
                <a:solidFill>
                  <a:srgbClr val="202924"/>
                </a:solidFill>
                <a:latin typeface="DejaVu Sans"/>
                <a:ea typeface="DejaVu Sans"/>
                <a:cs typeface="DejaVu Sans"/>
              </a:defRPr>
            </a:lvl6pPr>
            <a:lvl7pPr>
              <a:defRPr sz="2550" b="0">
                <a:solidFill>
                  <a:srgbClr val="202924"/>
                </a:solidFill>
                <a:latin typeface="DejaVu Sans"/>
                <a:ea typeface="DejaVu Sans"/>
                <a:cs typeface="DejaVu Sans"/>
              </a:defRPr>
            </a:lvl7pPr>
            <a:lvl8pPr>
              <a:defRPr sz="2550" b="0">
                <a:solidFill>
                  <a:srgbClr val="202924"/>
                </a:solidFill>
                <a:latin typeface="DejaVu Sans"/>
                <a:ea typeface="DejaVu Sans"/>
                <a:cs typeface="DejaVu Sans"/>
              </a:defRPr>
            </a:lvl8pPr>
            <a:lvl9pPr>
              <a:defRPr sz="2550" b="0">
                <a:solidFill>
                  <a:srgbClr val="202924"/>
                </a:solidFill>
                <a:latin typeface="DejaVu Sans"/>
                <a:ea typeface="DejaVu Sans"/>
                <a:cs typeface="DejaVu Sans"/>
              </a:defRPr>
            </a:lvl9pPr>
          </a:lstStyle>
          <a:p xmlns:a="http://schemas.openxmlformats.org/drawingml/2006/main">
            <a:pPr>
              <a:defRPr sz="2550" b="0">
                <a:solidFill>
                  <a:srgbClr val="202924"/>
                </a:solidFill>
                <a:latin typeface="DejaVu Sans"/>
                <a:ea typeface="DejaVu Sans"/>
                <a:cs typeface="DejaVu Sans"/>
              </a:defRPr>
            </a:pPr>
            <a:r>
              <a:rPr sz="2550" b="0">
                <a:solidFill>
                  <a:srgbClr val="202924"/>
                </a:solidFill>
                <a:latin typeface="DejaVu Sans"/>
                <a:ea typeface="DejaVu Sans"/>
                <a:cs typeface="DejaVu Sans"/>
              </a:rPr>
              <a:t>A reviewed candidate gets a decision, receipt and bounded continuation.</a:t>
            </a:r>
          </a:p>
        </p:txBody>
      </p:sp>
      <p:pic>
        <p:nvPicPr>
          <p:cNvPr id="3" name="">
            <a:extLst xmlns:a="http://schemas.openxmlformats.org/drawingml/2006/main">
              <a:ext uri="{FF2B5EF4-FFF2-40B4-BE49-F238E27FC236}">
                <a16:creationId xmlns:a16="http://schemas.microsoft.com/office/drawing/2014/main" id="{09D414D2-EE02-44A7-8C6F-FC429847D176}"/>
              </a:ext>
            </a:extLst>
          </p:cNvPr>
          <p:cNvPicPr>
            <a:picLocks xmlns:a="http://schemas.openxmlformats.org/drawingml/2006/main" noChangeAspect="1"/>
          </p:cNvPicPr>
          <p:nvPr/>
        </p:nvPicPr>
        <p:blipFill>
          <a:blip xmlns:r="http://schemas.openxmlformats.org/officeDocument/2006/relationships" xmlns:a="http://schemas.openxmlformats.org/drawingml/2006/main" r:embed="R8da0df8b03224ad3"/>
          <a:stretch xmlns:a="http://schemas.openxmlformats.org/drawingml/2006/main"/>
        </p:blipFill>
        <p:spPr>
          <a:xfrm xmlns:a="http://schemas.openxmlformats.org/drawingml/2006/main">
            <a:off x="6834188" y="1666875"/>
            <a:ext cx="4048125" cy="428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247DF7B-0DA4-4BEB-BB9B-4D506F38EC54}"/>
              </a:ext>
            </a:extLst>
          </p:cNvPr>
          <p:cNvSpPr>
            <a:spLocks xmlns:a="http://schemas.openxmlformats.org/drawingml/2006/main" noGrp="1"/>
          </p:cNvSpPr>
          <p:nvPr/>
        </p:nvSpPr>
        <p:spPr>
          <a:xfrm xmlns:a="http://schemas.openxmlformats.org/drawingml/2006/main">
            <a:off x="6477000" y="604837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53665A"/>
                </a:solidFill>
                <a:latin typeface="DejaVu Sans"/>
                <a:ea typeface="DejaVu Sans"/>
                <a:cs typeface="DejaVu Sans"/>
              </a:defRPr>
            </a:defPPr>
            <a:lvl1pPr>
              <a:defRPr sz="1425" b="0">
                <a:solidFill>
                  <a:srgbClr val="53665A"/>
                </a:solidFill>
                <a:latin typeface="DejaVu Sans"/>
                <a:ea typeface="DejaVu Sans"/>
                <a:cs typeface="DejaVu Sans"/>
              </a:defRPr>
            </a:lvl1pPr>
            <a:lvl2pPr>
              <a:defRPr sz="1425" b="0">
                <a:solidFill>
                  <a:srgbClr val="53665A"/>
                </a:solidFill>
                <a:latin typeface="DejaVu Sans"/>
                <a:ea typeface="DejaVu Sans"/>
                <a:cs typeface="DejaVu Sans"/>
              </a:defRPr>
            </a:lvl2pPr>
            <a:lvl3pPr>
              <a:defRPr sz="1425" b="0">
                <a:solidFill>
                  <a:srgbClr val="53665A"/>
                </a:solidFill>
                <a:latin typeface="DejaVu Sans"/>
                <a:ea typeface="DejaVu Sans"/>
                <a:cs typeface="DejaVu Sans"/>
              </a:defRPr>
            </a:lvl3pPr>
            <a:lvl4pPr>
              <a:defRPr sz="1425" b="0">
                <a:solidFill>
                  <a:srgbClr val="53665A"/>
                </a:solidFill>
                <a:latin typeface="DejaVu Sans"/>
                <a:ea typeface="DejaVu Sans"/>
                <a:cs typeface="DejaVu Sans"/>
              </a:defRPr>
            </a:lvl4pPr>
            <a:lvl5pPr>
              <a:defRPr sz="1425" b="0">
                <a:solidFill>
                  <a:srgbClr val="53665A"/>
                </a:solidFill>
                <a:latin typeface="DejaVu Sans"/>
                <a:ea typeface="DejaVu Sans"/>
                <a:cs typeface="DejaVu Sans"/>
              </a:defRPr>
            </a:lvl5pPr>
            <a:lvl6pPr>
              <a:defRPr sz="1425" b="0">
                <a:solidFill>
                  <a:srgbClr val="53665A"/>
                </a:solidFill>
                <a:latin typeface="DejaVu Sans"/>
                <a:ea typeface="DejaVu Sans"/>
                <a:cs typeface="DejaVu Sans"/>
              </a:defRPr>
            </a:lvl6pPr>
            <a:lvl7pPr>
              <a:defRPr sz="1425" b="0">
                <a:solidFill>
                  <a:srgbClr val="53665A"/>
                </a:solidFill>
                <a:latin typeface="DejaVu Sans"/>
                <a:ea typeface="DejaVu Sans"/>
                <a:cs typeface="DejaVu Sans"/>
              </a:defRPr>
            </a:lvl7pPr>
            <a:lvl8pPr>
              <a:defRPr sz="1425" b="0">
                <a:solidFill>
                  <a:srgbClr val="53665A"/>
                </a:solidFill>
                <a:latin typeface="DejaVu Sans"/>
                <a:ea typeface="DejaVu Sans"/>
                <a:cs typeface="DejaVu Sans"/>
              </a:defRPr>
            </a:lvl8pPr>
            <a:lvl9pPr>
              <a:defRPr sz="1425" b="0">
                <a:solidFill>
                  <a:srgbClr val="53665A"/>
                </a:solidFill>
                <a:latin typeface="DejaVu Sans"/>
                <a:ea typeface="DejaVu Sans"/>
                <a:cs typeface="DejaVu Sans"/>
              </a:defRPr>
            </a:lvl9pPr>
          </a:lstStyle>
          <a:p xmlns:a="http://schemas.openxmlformats.org/drawingml/2006/main">
            <a:pPr>
              <a:defRPr sz="1425" b="0">
                <a:solidFill>
                  <a:srgbClr val="53665A"/>
                </a:solidFill>
                <a:latin typeface="DejaVu Sans"/>
                <a:ea typeface="DejaVu Sans"/>
                <a:cs typeface="DejaVu Sans"/>
              </a:defRPr>
            </a:pPr>
            <a:r>
              <a:rPr sz="1425" b="0">
                <a:solidFill>
                  <a:srgbClr val="53665A"/>
                </a:solidFill>
                <a:latin typeface="DejaVu Sans"/>
                <a:ea typeface="DejaVu Sans"/>
                <a:cs typeface="DejaVu Sans"/>
              </a:rPr>
              <a:t>Illustrative website card. No live decision.</a:t>
            </a:r>
          </a:p>
        </p:txBody>
      </p:sp>
      <p:sp>
        <p:nvSpPr>
          <p:cNvPr id="5" name="">
            <a:extLst xmlns:a="http://schemas.openxmlformats.org/drawingml/2006/main">
              <a:ext uri="{FF2B5EF4-FFF2-40B4-BE49-F238E27FC236}">
                <a16:creationId xmlns:a16="http://schemas.microsoft.com/office/drawing/2014/main" id="{2E3419E8-62E2-45E5-A1E5-BBF9D54B6093}"/>
              </a:ext>
            </a:extLst>
          </p:cNvPr>
          <p:cNvSpPr>
            <a:spLocks xmlns:a="http://schemas.openxmlformats.org/drawingml/2006/main" noGrp="1"/>
          </p:cNvSpPr>
          <p:nvPr/>
        </p:nvSpPr>
        <p:spPr>
          <a:xfrm xmlns:a="http://schemas.openxmlformats.org/drawingml/2006/main">
            <a:off x="723900" y="52959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REST, remote MCP and A2A share the authority services.</a:t>
            </a:r>
          </a:p>
        </p:txBody>
      </p:sp>
    </p:spTree>
    <p:extLst>
      <p:ext uri="{BB962C8B-B14F-4D97-AF65-F5344CB8AC3E}">
        <p14:creationId xmlns:p14="http://schemas.microsoft.com/office/powerpoint/2010/main" val="537150506"/>
      </p:ext>
    </p:extLst>
  </p:cSld>
</p:sld>
</file>

<file path=ppt/slides/slide6.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DD01E84-4F0D-44F6-9D74-BF8570509AB6}"/>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Engineering evidence</a:t>
            </a:r>
          </a:p>
        </p:txBody>
      </p:sp>
      <p:sp>
        <p:nvSpPr>
          <p:cNvPr id="2" name="">
            <a:extLst xmlns:a="http://schemas.openxmlformats.org/drawingml/2006/main">
              <a:ext uri="{FF2B5EF4-FFF2-40B4-BE49-F238E27FC236}">
                <a16:creationId xmlns:a16="http://schemas.microsoft.com/office/drawing/2014/main" id="{3E35D489-EC85-4FD5-8943-078CAA2A315A}"/>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Production OAuth and real Qloo receipts</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Independent SDK and A2A acceptance</a:t>
            </a:r>
          </a:p>
        </p:txBody>
      </p:sp>
      <p:sp>
        <p:nvSpPr>
          <p:cNvPr id="3" name="">
            <a:extLst xmlns:a="http://schemas.openxmlformats.org/drawingml/2006/main">
              <a:ext uri="{FF2B5EF4-FFF2-40B4-BE49-F238E27FC236}">
                <a16:creationId xmlns:a16="http://schemas.microsoft.com/office/drawing/2014/main" id="{6753A6DE-E6E4-48A6-B0F2-03428723A383}"/>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Canonical origin: tastepolicy.vercel.app</a:t>
            </a:r>
          </a:p>
        </p:txBody>
      </p:sp>
    </p:spTree>
    <p:extLst>
      <p:ext uri="{BB962C8B-B14F-4D97-AF65-F5344CB8AC3E}">
        <p14:creationId xmlns:p14="http://schemas.microsoft.com/office/powerpoint/2010/main" val="1990638162"/>
      </p:ext>
    </p:extLst>
  </p:cSld>
</p:sld>
</file>

<file path=ppt/slides/slide7.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B7D532C-411E-4F76-A790-A4F76F6674A8}"/>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Evaluation has exposed gaps</a:t>
            </a:r>
          </a:p>
        </p:txBody>
      </p:sp>
      <p:sp>
        <p:nvSpPr>
          <p:cNvPr id="2" name="">
            <a:extLst xmlns:a="http://schemas.openxmlformats.org/drawingml/2006/main">
              <a:ext uri="{FF2B5EF4-FFF2-40B4-BE49-F238E27FC236}">
                <a16:creationId xmlns:a16="http://schemas.microsoft.com/office/drawing/2014/main" id="{D1B49296-B6B2-4DB5-98B9-12F5AB012DD1}"/>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94 / 160 exact agreement</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33 / 67 missed ASK</a:t>
            </a:r>
          </a:p>
        </p:txBody>
      </p:sp>
      <p:sp>
        <p:nvSpPr>
          <p:cNvPr id="3" name="">
            <a:extLst xmlns:a="http://schemas.openxmlformats.org/drawingml/2006/main">
              <a:ext uri="{FF2B5EF4-FFF2-40B4-BE49-F238E27FC236}">
                <a16:creationId xmlns:a16="http://schemas.microsoft.com/office/drawing/2014/main" id="{948A30CA-C777-469F-ADB0-11CE3ABACB81}"/>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Ten operator-asserted people. 180 repeated judgments.</a:t>
            </a:r>
          </a:p>
        </p:txBody>
      </p:sp>
    </p:spTree>
    <p:extLst>
      <p:ext uri="{BB962C8B-B14F-4D97-AF65-F5344CB8AC3E}">
        <p14:creationId xmlns:p14="http://schemas.microsoft.com/office/powerpoint/2010/main" val="1020212692"/>
      </p:ext>
    </p:extLst>
  </p:cSld>
</p:sld>
</file>

<file path=ppt/slides/slide8.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4469E06-1894-40D7-BF00-FD1581FA2747}"/>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First buyer and test price</a:t>
            </a:r>
          </a:p>
        </p:txBody>
      </p:sp>
      <p:sp>
        <p:nvSpPr>
          <p:cNvPr id="2" name="">
            <a:extLst xmlns:a="http://schemas.openxmlformats.org/drawingml/2006/main">
              <a:ext uri="{FF2B5EF4-FFF2-40B4-BE49-F238E27FC236}">
                <a16:creationId xmlns:a16="http://schemas.microsoft.com/office/drawing/2014/main" id="{78533F9F-F924-4397-A8F2-4C8F51F7560E}"/>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Travel and concierge agent teams</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One candidate flow before separate execution</a:t>
            </a:r>
          </a:p>
        </p:txBody>
      </p:sp>
      <p:sp>
        <p:nvSpPr>
          <p:cNvPr id="3" name="">
            <a:extLst xmlns:a="http://schemas.openxmlformats.org/drawingml/2006/main">
              <a:ext uri="{FF2B5EF4-FFF2-40B4-BE49-F238E27FC236}">
                <a16:creationId xmlns:a16="http://schemas.microsoft.com/office/drawing/2014/main" id="{1BDFDCF3-9D07-497A-B866-0AF8DBA837E4}"/>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Free developer usage. Pro USD49/month is an experiment.</a:t>
            </a:r>
          </a:p>
        </p:txBody>
      </p:sp>
    </p:spTree>
    <p:extLst>
      <p:ext uri="{BB962C8B-B14F-4D97-AF65-F5344CB8AC3E}">
        <p14:creationId xmlns:p14="http://schemas.microsoft.com/office/powerpoint/2010/main" val="115187609"/>
      </p:ext>
    </p:extLst>
  </p:cSld>
</p:sld>
</file>

<file path=ppt/slides/slide9.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6A83DAE-291F-41A8-9BB5-F6C14F19AC89}"/>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Market scenario</a:t>
            </a:r>
          </a:p>
        </p:txBody>
      </p:sp>
      <p:sp>
        <p:nvSpPr>
          <p:cNvPr id="2" name="">
            <a:extLst xmlns:a="http://schemas.openxmlformats.org/drawingml/2006/main">
              <a:ext uri="{FF2B5EF4-FFF2-40B4-BE49-F238E27FC236}">
                <a16:creationId xmlns:a16="http://schemas.microsoft.com/office/drawing/2014/main" id="{E0A5E52F-BB12-4160-9D95-1898F7AAB647}"/>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100 paying workspaces at USD49/month</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would produce USD58,800 annualized revenue.</a:t>
            </a:r>
          </a:p>
        </p:txBody>
      </p:sp>
      <p:sp>
        <p:nvSpPr>
          <p:cNvPr id="3" name="">
            <a:extLst xmlns:a="http://schemas.openxmlformats.org/drawingml/2006/main">
              <a:ext uri="{FF2B5EF4-FFF2-40B4-BE49-F238E27FC236}">
                <a16:creationId xmlns:a16="http://schemas.microsoft.com/office/drawing/2014/main" id="{80DD3B03-1B55-48BF-A61F-BC095658A7C4}"/>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Target, not traction. Jobs-to-team model remains unvalidated.</a:t>
            </a:r>
          </a:p>
        </p:txBody>
      </p:sp>
    </p:spTree>
    <p:extLst>
      <p:ext uri="{BB962C8B-B14F-4D97-AF65-F5344CB8AC3E}">
        <p14:creationId xmlns:p14="http://schemas.microsoft.com/office/powerpoint/2010/main" val="684318757"/>
      </p:ext>
    </p:extLst>
  </p:cSld>
</p:sld>
</file>

<file path=ppt/slides/slide10.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6F8FE2A-CD2D-4D8C-B1B6-72AB5E72E975}"/>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Route to paid adoption</a:t>
            </a:r>
          </a:p>
        </p:txBody>
      </p:sp>
      <p:sp>
        <p:nvSpPr>
          <p:cNvPr id="2" name="">
            <a:extLst xmlns:a="http://schemas.openxmlformats.org/drawingml/2006/main">
              <a:ext uri="{FF2B5EF4-FFF2-40B4-BE49-F238E27FC236}">
                <a16:creationId xmlns:a16="http://schemas.microsoft.com/office/drawing/2014/main" id="{F437F296-2F73-4EDC-9E90-4ACE8BE6C2B2}"/>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30 days: qualified interviews and design partners</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60 days: scoped pilots and first price tests</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90 days: retention evidence and ten paid targets</a:t>
            </a:r>
          </a:p>
        </p:txBody>
      </p:sp>
      <p:sp>
        <p:nvSpPr>
          <p:cNvPr id="3" name="">
            <a:extLst xmlns:a="http://schemas.openxmlformats.org/drawingml/2006/main">
              <a:ext uri="{FF2B5EF4-FFF2-40B4-BE49-F238E27FC236}">
                <a16:creationId xmlns:a16="http://schemas.microsoft.com/office/drawing/2014/main" id="{2679A434-89E9-4E5B-A911-7F0FC1AA5F71}"/>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100 paid customers follows validated cohorts.</a:t>
            </a:r>
          </a:p>
        </p:txBody>
      </p:sp>
    </p:spTree>
    <p:extLst>
      <p:ext uri="{BB962C8B-B14F-4D97-AF65-F5344CB8AC3E}">
        <p14:creationId xmlns:p14="http://schemas.microsoft.com/office/powerpoint/2010/main" val="1260059081"/>
      </p:ext>
    </p:extLst>
  </p:cSld>
</p:sld>
</file>

<file path=ppt/slides/slide11.xml><?xml version="1.0" encoding="utf-8"?>
<p:sld xmlns:p="http://schemas.openxmlformats.org/presentationml/2006/main">
  <p:cSld>
    <p:bg>
      <p:bgPr>
        <a:solidFill xmlns:a="http://schemas.openxmlformats.org/drawingml/2006/main">
          <a:srgbClr val="F6F3EC"/>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795C0C0-A571-4817-A097-F6BCFE7A1220}"/>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202924"/>
                </a:solidFill>
                <a:latin typeface="DejaVu Sans"/>
                <a:ea typeface="DejaVu Sans"/>
                <a:cs typeface="DejaVu Sans"/>
              </a:defRPr>
            </a:defPPr>
            <a:lvl1pPr>
              <a:defRPr sz="3300" b="1">
                <a:solidFill>
                  <a:srgbClr val="202924"/>
                </a:solidFill>
                <a:latin typeface="DejaVu Sans"/>
                <a:ea typeface="DejaVu Sans"/>
                <a:cs typeface="DejaVu Sans"/>
              </a:defRPr>
            </a:lvl1pPr>
            <a:lvl2pPr>
              <a:defRPr sz="3300" b="1">
                <a:solidFill>
                  <a:srgbClr val="202924"/>
                </a:solidFill>
                <a:latin typeface="DejaVu Sans"/>
                <a:ea typeface="DejaVu Sans"/>
                <a:cs typeface="DejaVu Sans"/>
              </a:defRPr>
            </a:lvl2pPr>
            <a:lvl3pPr>
              <a:defRPr sz="3300" b="1">
                <a:solidFill>
                  <a:srgbClr val="202924"/>
                </a:solidFill>
                <a:latin typeface="DejaVu Sans"/>
                <a:ea typeface="DejaVu Sans"/>
                <a:cs typeface="DejaVu Sans"/>
              </a:defRPr>
            </a:lvl3pPr>
            <a:lvl4pPr>
              <a:defRPr sz="3300" b="1">
                <a:solidFill>
                  <a:srgbClr val="202924"/>
                </a:solidFill>
                <a:latin typeface="DejaVu Sans"/>
                <a:ea typeface="DejaVu Sans"/>
                <a:cs typeface="DejaVu Sans"/>
              </a:defRPr>
            </a:lvl4pPr>
            <a:lvl5pPr>
              <a:defRPr sz="3300" b="1">
                <a:solidFill>
                  <a:srgbClr val="202924"/>
                </a:solidFill>
                <a:latin typeface="DejaVu Sans"/>
                <a:ea typeface="DejaVu Sans"/>
                <a:cs typeface="DejaVu Sans"/>
              </a:defRPr>
            </a:lvl5pPr>
            <a:lvl6pPr>
              <a:defRPr sz="3300" b="1">
                <a:solidFill>
                  <a:srgbClr val="202924"/>
                </a:solidFill>
                <a:latin typeface="DejaVu Sans"/>
                <a:ea typeface="DejaVu Sans"/>
                <a:cs typeface="DejaVu Sans"/>
              </a:defRPr>
            </a:lvl6pPr>
            <a:lvl7pPr>
              <a:defRPr sz="3300" b="1">
                <a:solidFill>
                  <a:srgbClr val="202924"/>
                </a:solidFill>
                <a:latin typeface="DejaVu Sans"/>
                <a:ea typeface="DejaVu Sans"/>
                <a:cs typeface="DejaVu Sans"/>
              </a:defRPr>
            </a:lvl7pPr>
            <a:lvl8pPr>
              <a:defRPr sz="3300" b="1">
                <a:solidFill>
                  <a:srgbClr val="202924"/>
                </a:solidFill>
                <a:latin typeface="DejaVu Sans"/>
                <a:ea typeface="DejaVu Sans"/>
                <a:cs typeface="DejaVu Sans"/>
              </a:defRPr>
            </a:lvl8pPr>
            <a:lvl9pPr>
              <a:defRPr sz="3300" b="1">
                <a:solidFill>
                  <a:srgbClr val="202924"/>
                </a:solidFill>
                <a:latin typeface="DejaVu Sans"/>
                <a:ea typeface="DejaVu Sans"/>
                <a:cs typeface="DejaVu Sans"/>
              </a:defRPr>
            </a:lvl9pPr>
          </a:lstStyle>
          <a:p xmlns:a="http://schemas.openxmlformats.org/drawingml/2006/main">
            <a:pPr>
              <a:defRPr sz="3300" b="1">
                <a:solidFill>
                  <a:srgbClr val="202924"/>
                </a:solidFill>
                <a:latin typeface="DejaVu Sans"/>
                <a:ea typeface="DejaVu Sans"/>
                <a:cs typeface="DejaVu Sans"/>
              </a:defRPr>
            </a:pPr>
            <a:r>
              <a:rPr sz="3300" b="1">
                <a:solidFill>
                  <a:srgbClr val="202924"/>
                </a:solidFill>
                <a:latin typeface="DejaVu Sans"/>
                <a:ea typeface="DejaVu Sans"/>
                <a:cs typeface="DejaVu Sans"/>
              </a:rPr>
              <a:t>Defensibility and risk</a:t>
            </a:r>
          </a:p>
        </p:txBody>
      </p:sp>
      <p:sp>
        <p:nvSpPr>
          <p:cNvPr id="2" name="">
            <a:extLst xmlns:a="http://schemas.openxmlformats.org/drawingml/2006/main">
              <a:ext uri="{FF2B5EF4-FFF2-40B4-BE49-F238E27FC236}">
                <a16:creationId xmlns:a16="http://schemas.microsoft.com/office/drawing/2014/main" id="{D7AA2088-79FC-41B2-B553-ACF5BF4DA81B}"/>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202924"/>
                </a:solidFill>
                <a:latin typeface="DejaVu Sans"/>
                <a:ea typeface="DejaVu Sans"/>
                <a:cs typeface="DejaVu Sans"/>
              </a:defRPr>
            </a:defPPr>
            <a:lvl1pPr>
              <a:defRPr sz="2850" b="0">
                <a:solidFill>
                  <a:srgbClr val="202924"/>
                </a:solidFill>
                <a:latin typeface="DejaVu Sans"/>
                <a:ea typeface="DejaVu Sans"/>
                <a:cs typeface="DejaVu Sans"/>
              </a:defRPr>
            </a:lvl1pPr>
            <a:lvl2pPr>
              <a:defRPr sz="2850" b="0">
                <a:solidFill>
                  <a:srgbClr val="202924"/>
                </a:solidFill>
                <a:latin typeface="DejaVu Sans"/>
                <a:ea typeface="DejaVu Sans"/>
                <a:cs typeface="DejaVu Sans"/>
              </a:defRPr>
            </a:lvl2pPr>
            <a:lvl3pPr>
              <a:defRPr sz="2850" b="0">
                <a:solidFill>
                  <a:srgbClr val="202924"/>
                </a:solidFill>
                <a:latin typeface="DejaVu Sans"/>
                <a:ea typeface="DejaVu Sans"/>
                <a:cs typeface="DejaVu Sans"/>
              </a:defRPr>
            </a:lvl3pPr>
            <a:lvl4pPr>
              <a:defRPr sz="2850" b="0">
                <a:solidFill>
                  <a:srgbClr val="202924"/>
                </a:solidFill>
                <a:latin typeface="DejaVu Sans"/>
                <a:ea typeface="DejaVu Sans"/>
                <a:cs typeface="DejaVu Sans"/>
              </a:defRPr>
            </a:lvl4pPr>
            <a:lvl5pPr>
              <a:defRPr sz="2850" b="0">
                <a:solidFill>
                  <a:srgbClr val="202924"/>
                </a:solidFill>
                <a:latin typeface="DejaVu Sans"/>
                <a:ea typeface="DejaVu Sans"/>
                <a:cs typeface="DejaVu Sans"/>
              </a:defRPr>
            </a:lvl5pPr>
            <a:lvl6pPr>
              <a:defRPr sz="2850" b="0">
                <a:solidFill>
                  <a:srgbClr val="202924"/>
                </a:solidFill>
                <a:latin typeface="DejaVu Sans"/>
                <a:ea typeface="DejaVu Sans"/>
                <a:cs typeface="DejaVu Sans"/>
              </a:defRPr>
            </a:lvl6pPr>
            <a:lvl7pPr>
              <a:defRPr sz="2850" b="0">
                <a:solidFill>
                  <a:srgbClr val="202924"/>
                </a:solidFill>
                <a:latin typeface="DejaVu Sans"/>
                <a:ea typeface="DejaVu Sans"/>
                <a:cs typeface="DejaVu Sans"/>
              </a:defRPr>
            </a:lvl7pPr>
            <a:lvl8pPr>
              <a:defRPr sz="2850" b="0">
                <a:solidFill>
                  <a:srgbClr val="202924"/>
                </a:solidFill>
                <a:latin typeface="DejaVu Sans"/>
                <a:ea typeface="DejaVu Sans"/>
                <a:cs typeface="DejaVu Sans"/>
              </a:defRPr>
            </a:lvl8pPr>
            <a:lvl9pPr>
              <a:defRPr sz="2850" b="0">
                <a:solidFill>
                  <a:srgbClr val="202924"/>
                </a:solidFill>
                <a:latin typeface="DejaVu Sans"/>
                <a:ea typeface="DejaVu Sans"/>
                <a:cs typeface="DejaVu Sans"/>
              </a:defRPr>
            </a:lvl9pPr>
          </a:lstStyle>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Inspectable authority, revocation and commitments</a:t>
            </a:r>
          </a:p>
          <a:p xmlns:a="http://schemas.openxmlformats.org/drawingml/2006/main">
            <a:pPr>
              <a:defRPr sz="2850" b="0">
                <a:solidFill>
                  <a:srgbClr val="202924"/>
                </a:solidFill>
                <a:latin typeface="DejaVu Sans"/>
                <a:ea typeface="DejaVu Sans"/>
                <a:cs typeface="DejaVu Sans"/>
              </a:defRPr>
            </a:pPr>
            <a:r>
              <a:rPr sz="2850" b="0">
                <a:solidFill>
                  <a:srgbClr val="202924"/>
                </a:solidFill>
                <a:latin typeface="DejaVu Sans"/>
                <a:ea typeface="DejaVu Sans"/>
                <a:cs typeface="DejaVu Sans"/>
              </a:rPr>
              <a:t>Useful integrations and legitimate evaluation data</a:t>
            </a:r>
          </a:p>
        </p:txBody>
      </p:sp>
      <p:sp>
        <p:nvSpPr>
          <p:cNvPr id="3" name="">
            <a:extLst xmlns:a="http://schemas.openxmlformats.org/drawingml/2006/main">
              <a:ext uri="{FF2B5EF4-FFF2-40B4-BE49-F238E27FC236}">
                <a16:creationId xmlns:a16="http://schemas.microsoft.com/office/drawing/2014/main" id="{0ADAB8FA-A833-4A79-934E-B442492B312B}"/>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385846"/>
                </a:solidFill>
                <a:latin typeface="DejaVu Sans"/>
                <a:ea typeface="DejaVu Sans"/>
                <a:cs typeface="DejaVu Sans"/>
              </a:defRPr>
            </a:defPPr>
            <a:lvl1pPr>
              <a:defRPr sz="1800" b="0">
                <a:solidFill>
                  <a:srgbClr val="385846"/>
                </a:solidFill>
                <a:latin typeface="DejaVu Sans"/>
                <a:ea typeface="DejaVu Sans"/>
                <a:cs typeface="DejaVu Sans"/>
              </a:defRPr>
            </a:lvl1pPr>
            <a:lvl2pPr>
              <a:defRPr sz="1800" b="0">
                <a:solidFill>
                  <a:srgbClr val="385846"/>
                </a:solidFill>
                <a:latin typeface="DejaVu Sans"/>
                <a:ea typeface="DejaVu Sans"/>
                <a:cs typeface="DejaVu Sans"/>
              </a:defRPr>
            </a:lvl2pPr>
            <a:lvl3pPr>
              <a:defRPr sz="1800" b="0">
                <a:solidFill>
                  <a:srgbClr val="385846"/>
                </a:solidFill>
                <a:latin typeface="DejaVu Sans"/>
                <a:ea typeface="DejaVu Sans"/>
                <a:cs typeface="DejaVu Sans"/>
              </a:defRPr>
            </a:lvl3pPr>
            <a:lvl4pPr>
              <a:defRPr sz="1800" b="0">
                <a:solidFill>
                  <a:srgbClr val="385846"/>
                </a:solidFill>
                <a:latin typeface="DejaVu Sans"/>
                <a:ea typeface="DejaVu Sans"/>
                <a:cs typeface="DejaVu Sans"/>
              </a:defRPr>
            </a:lvl4pPr>
            <a:lvl5pPr>
              <a:defRPr sz="1800" b="0">
                <a:solidFill>
                  <a:srgbClr val="385846"/>
                </a:solidFill>
                <a:latin typeface="DejaVu Sans"/>
                <a:ea typeface="DejaVu Sans"/>
                <a:cs typeface="DejaVu Sans"/>
              </a:defRPr>
            </a:lvl5pPr>
            <a:lvl6pPr>
              <a:defRPr sz="1800" b="0">
                <a:solidFill>
                  <a:srgbClr val="385846"/>
                </a:solidFill>
                <a:latin typeface="DejaVu Sans"/>
                <a:ea typeface="DejaVu Sans"/>
                <a:cs typeface="DejaVu Sans"/>
              </a:defRPr>
            </a:lvl6pPr>
            <a:lvl7pPr>
              <a:defRPr sz="1800" b="0">
                <a:solidFill>
                  <a:srgbClr val="385846"/>
                </a:solidFill>
                <a:latin typeface="DejaVu Sans"/>
                <a:ea typeface="DejaVu Sans"/>
                <a:cs typeface="DejaVu Sans"/>
              </a:defRPr>
            </a:lvl7pPr>
            <a:lvl8pPr>
              <a:defRPr sz="1800" b="0">
                <a:solidFill>
                  <a:srgbClr val="385846"/>
                </a:solidFill>
                <a:latin typeface="DejaVu Sans"/>
                <a:ea typeface="DejaVu Sans"/>
                <a:cs typeface="DejaVu Sans"/>
              </a:defRPr>
            </a:lvl8pPr>
            <a:lvl9pPr>
              <a:defRPr sz="1800" b="0">
                <a:solidFill>
                  <a:srgbClr val="385846"/>
                </a:solidFill>
                <a:latin typeface="DejaVu Sans"/>
                <a:ea typeface="DejaVu Sans"/>
                <a:cs typeface="DejaVu Sans"/>
              </a:defRPr>
            </a:lvl9pPr>
          </a:lstStyle>
          <a:p xmlns:a="http://schemas.openxmlformats.org/drawingml/2006/main">
            <a:pPr>
              <a:defRPr sz="1800" b="0">
                <a:solidFill>
                  <a:srgbClr val="385846"/>
                </a:solidFill>
                <a:latin typeface="DejaVu Sans"/>
                <a:ea typeface="DejaVu Sans"/>
                <a:cs typeface="DejaVu Sans"/>
              </a:defRPr>
            </a:pPr>
            <a:r>
              <a:rPr sz="1800" b="0">
                <a:solidFill>
                  <a:srgbClr val="385846"/>
                </a:solidFill>
                <a:latin typeface="DejaVu Sans"/>
                <a:ea typeface="DejaVu Sans"/>
                <a:cs typeface="DejaVu Sans"/>
              </a:rPr>
              <a:t>Qloo rights, buyer demand and held-out performance remain critical.</a:t>
            </a:r>
          </a:p>
        </p:txBody>
      </p:sp>
    </p:spTree>
    <p:extLst>
      <p:ext uri="{BB962C8B-B14F-4D97-AF65-F5344CB8AC3E}">
        <p14:creationId xmlns:p14="http://schemas.microsoft.com/office/powerpoint/2010/main" val="1631548421"/>
      </p:ext>
    </p:extLst>
  </p:cSld>
</p:sld>
</file>

<file path=ppt/slides/slide12.xml><?xml version="1.0" encoding="utf-8"?>
<p:sld xmlns:p="http://schemas.openxmlformats.org/presentationml/2006/main">
  <p:cSld>
    <p:bg>
      <p:bgPr>
        <a:solidFill xmlns:a="http://schemas.openxmlformats.org/drawingml/2006/main">
          <a:srgbClr val="202924"/>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CCAD024-66E8-4B38-92E8-9C74CB308699}"/>
              </a:ext>
            </a:extLst>
          </p:cNvPr>
          <p:cNvSpPr>
            <a:spLocks xmlns:a="http://schemas.openxmlformats.org/drawingml/2006/main" noGrp="1"/>
          </p:cNvSpPr>
          <p:nvPr/>
        </p:nvSpPr>
        <p:spPr>
          <a:xfrm xmlns:a="http://schemas.openxmlformats.org/drawingml/2006/main">
            <a:off x="723900" y="6096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F6F3EC"/>
                </a:solidFill>
                <a:latin typeface="DejaVu Sans"/>
                <a:ea typeface="DejaVu Sans"/>
                <a:cs typeface="DejaVu Sans"/>
              </a:defRPr>
            </a:defPPr>
            <a:lvl1pPr>
              <a:defRPr sz="3300" b="1">
                <a:solidFill>
                  <a:srgbClr val="F6F3EC"/>
                </a:solidFill>
                <a:latin typeface="DejaVu Sans"/>
                <a:ea typeface="DejaVu Sans"/>
                <a:cs typeface="DejaVu Sans"/>
              </a:defRPr>
            </a:lvl1pPr>
            <a:lvl2pPr>
              <a:defRPr sz="3300" b="1">
                <a:solidFill>
                  <a:srgbClr val="F6F3EC"/>
                </a:solidFill>
                <a:latin typeface="DejaVu Sans"/>
                <a:ea typeface="DejaVu Sans"/>
                <a:cs typeface="DejaVu Sans"/>
              </a:defRPr>
            </a:lvl2pPr>
            <a:lvl3pPr>
              <a:defRPr sz="3300" b="1">
                <a:solidFill>
                  <a:srgbClr val="F6F3EC"/>
                </a:solidFill>
                <a:latin typeface="DejaVu Sans"/>
                <a:ea typeface="DejaVu Sans"/>
                <a:cs typeface="DejaVu Sans"/>
              </a:defRPr>
            </a:lvl3pPr>
            <a:lvl4pPr>
              <a:defRPr sz="3300" b="1">
                <a:solidFill>
                  <a:srgbClr val="F6F3EC"/>
                </a:solidFill>
                <a:latin typeface="DejaVu Sans"/>
                <a:ea typeface="DejaVu Sans"/>
                <a:cs typeface="DejaVu Sans"/>
              </a:defRPr>
            </a:lvl4pPr>
            <a:lvl5pPr>
              <a:defRPr sz="3300" b="1">
                <a:solidFill>
                  <a:srgbClr val="F6F3EC"/>
                </a:solidFill>
                <a:latin typeface="DejaVu Sans"/>
                <a:ea typeface="DejaVu Sans"/>
                <a:cs typeface="DejaVu Sans"/>
              </a:defRPr>
            </a:lvl5pPr>
            <a:lvl6pPr>
              <a:defRPr sz="3300" b="1">
                <a:solidFill>
                  <a:srgbClr val="F6F3EC"/>
                </a:solidFill>
                <a:latin typeface="DejaVu Sans"/>
                <a:ea typeface="DejaVu Sans"/>
                <a:cs typeface="DejaVu Sans"/>
              </a:defRPr>
            </a:lvl6pPr>
            <a:lvl7pPr>
              <a:defRPr sz="3300" b="1">
                <a:solidFill>
                  <a:srgbClr val="F6F3EC"/>
                </a:solidFill>
                <a:latin typeface="DejaVu Sans"/>
                <a:ea typeface="DejaVu Sans"/>
                <a:cs typeface="DejaVu Sans"/>
              </a:defRPr>
            </a:lvl7pPr>
            <a:lvl8pPr>
              <a:defRPr sz="3300" b="1">
                <a:solidFill>
                  <a:srgbClr val="F6F3EC"/>
                </a:solidFill>
                <a:latin typeface="DejaVu Sans"/>
                <a:ea typeface="DejaVu Sans"/>
                <a:cs typeface="DejaVu Sans"/>
              </a:defRPr>
            </a:lvl8pPr>
            <a:lvl9pPr>
              <a:defRPr sz="3300" b="1">
                <a:solidFill>
                  <a:srgbClr val="F6F3EC"/>
                </a:solidFill>
                <a:latin typeface="DejaVu Sans"/>
                <a:ea typeface="DejaVu Sans"/>
                <a:cs typeface="DejaVu Sans"/>
              </a:defRPr>
            </a:lvl9pPr>
          </a:lstStyle>
          <a:p xmlns:a="http://schemas.openxmlformats.org/drawingml/2006/main">
            <a:pPr>
              <a:defRPr sz="3300" b="1">
                <a:solidFill>
                  <a:srgbClr val="F6F3EC"/>
                </a:solidFill>
                <a:latin typeface="DejaVu Sans"/>
                <a:ea typeface="DejaVu Sans"/>
                <a:cs typeface="DejaVu Sans"/>
              </a:defRPr>
            </a:pPr>
            <a:r>
              <a:rPr sz="3300" b="1">
                <a:solidFill>
                  <a:srgbClr val="F6F3EC"/>
                </a:solidFill>
                <a:latin typeface="DejaVu Sans"/>
                <a:ea typeface="DejaVu Sans"/>
                <a:cs typeface="DejaVu Sans"/>
              </a:rPr>
              <a:t>Funding scenario</a:t>
            </a:r>
          </a:p>
        </p:txBody>
      </p:sp>
      <p:sp>
        <p:nvSpPr>
          <p:cNvPr id="2" name="">
            <a:extLst xmlns:a="http://schemas.openxmlformats.org/drawingml/2006/main">
              <a:ext uri="{FF2B5EF4-FFF2-40B4-BE49-F238E27FC236}">
                <a16:creationId xmlns:a16="http://schemas.microsoft.com/office/drawing/2014/main" id="{1928F07C-9590-4897-8C3E-5BF9B826FE06}"/>
              </a:ext>
            </a:extLst>
          </p:cNvPr>
          <p:cNvSpPr>
            <a:spLocks xmlns:a="http://schemas.openxmlformats.org/drawingml/2006/main" noGrp="1"/>
          </p:cNvSpPr>
          <p:nvPr/>
        </p:nvSpPr>
        <p:spPr>
          <a:xfrm xmlns:a="http://schemas.openxmlformats.org/drawingml/2006/main">
            <a:off x="723900" y="2000250"/>
            <a:ext cx="10744200" cy="2724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850" b="0">
                <a:solidFill>
                  <a:srgbClr val="F6F3EC"/>
                </a:solidFill>
                <a:latin typeface="DejaVu Sans"/>
                <a:ea typeface="DejaVu Sans"/>
                <a:cs typeface="DejaVu Sans"/>
              </a:defRPr>
            </a:defPPr>
            <a:lvl1pPr>
              <a:defRPr sz="2850" b="0">
                <a:solidFill>
                  <a:srgbClr val="F6F3EC"/>
                </a:solidFill>
                <a:latin typeface="DejaVu Sans"/>
                <a:ea typeface="DejaVu Sans"/>
                <a:cs typeface="DejaVu Sans"/>
              </a:defRPr>
            </a:lvl1pPr>
            <a:lvl2pPr>
              <a:defRPr sz="2850" b="0">
                <a:solidFill>
                  <a:srgbClr val="F6F3EC"/>
                </a:solidFill>
                <a:latin typeface="DejaVu Sans"/>
                <a:ea typeface="DejaVu Sans"/>
                <a:cs typeface="DejaVu Sans"/>
              </a:defRPr>
            </a:lvl2pPr>
            <a:lvl3pPr>
              <a:defRPr sz="2850" b="0">
                <a:solidFill>
                  <a:srgbClr val="F6F3EC"/>
                </a:solidFill>
                <a:latin typeface="DejaVu Sans"/>
                <a:ea typeface="DejaVu Sans"/>
                <a:cs typeface="DejaVu Sans"/>
              </a:defRPr>
            </a:lvl3pPr>
            <a:lvl4pPr>
              <a:defRPr sz="2850" b="0">
                <a:solidFill>
                  <a:srgbClr val="F6F3EC"/>
                </a:solidFill>
                <a:latin typeface="DejaVu Sans"/>
                <a:ea typeface="DejaVu Sans"/>
                <a:cs typeface="DejaVu Sans"/>
              </a:defRPr>
            </a:lvl4pPr>
            <a:lvl5pPr>
              <a:defRPr sz="2850" b="0">
                <a:solidFill>
                  <a:srgbClr val="F6F3EC"/>
                </a:solidFill>
                <a:latin typeface="DejaVu Sans"/>
                <a:ea typeface="DejaVu Sans"/>
                <a:cs typeface="DejaVu Sans"/>
              </a:defRPr>
            </a:lvl5pPr>
            <a:lvl6pPr>
              <a:defRPr sz="2850" b="0">
                <a:solidFill>
                  <a:srgbClr val="F6F3EC"/>
                </a:solidFill>
                <a:latin typeface="DejaVu Sans"/>
                <a:ea typeface="DejaVu Sans"/>
                <a:cs typeface="DejaVu Sans"/>
              </a:defRPr>
            </a:lvl6pPr>
            <a:lvl7pPr>
              <a:defRPr sz="2850" b="0">
                <a:solidFill>
                  <a:srgbClr val="F6F3EC"/>
                </a:solidFill>
                <a:latin typeface="DejaVu Sans"/>
                <a:ea typeface="DejaVu Sans"/>
                <a:cs typeface="DejaVu Sans"/>
              </a:defRPr>
            </a:lvl7pPr>
            <a:lvl8pPr>
              <a:defRPr sz="2850" b="0">
                <a:solidFill>
                  <a:srgbClr val="F6F3EC"/>
                </a:solidFill>
                <a:latin typeface="DejaVu Sans"/>
                <a:ea typeface="DejaVu Sans"/>
                <a:cs typeface="DejaVu Sans"/>
              </a:defRPr>
            </a:lvl8pPr>
            <a:lvl9pPr>
              <a:defRPr sz="2850" b="0">
                <a:solidFill>
                  <a:srgbClr val="F6F3EC"/>
                </a:solidFill>
                <a:latin typeface="DejaVu Sans"/>
                <a:ea typeface="DejaVu Sans"/>
                <a:cs typeface="DejaVu Sans"/>
              </a:defRPr>
            </a:lvl9pPr>
          </a:lstStyle>
          <a:p xmlns:a="http://schemas.openxmlformats.org/drawingml/2006/main">
            <a:pPr>
              <a:defRPr sz="2850" b="0">
                <a:solidFill>
                  <a:srgbClr val="F6F3EC"/>
                </a:solidFill>
                <a:latin typeface="DejaVu Sans"/>
                <a:ea typeface="DejaVu Sans"/>
                <a:cs typeface="DejaVu Sans"/>
              </a:defRPr>
            </a:pPr>
            <a:r>
              <a:rPr sz="2850" b="0">
                <a:solidFill>
                  <a:srgbClr val="F6F3EC"/>
                </a:solidFill>
                <a:latin typeface="DejaVu Sans"/>
                <a:ea typeface="DejaVu Sans"/>
                <a:cs typeface="DejaVu Sans"/>
              </a:rPr>
              <a:t>USD500,000 over 18 months</a:t>
            </a:r>
          </a:p>
          <a:p xmlns:a="http://schemas.openxmlformats.org/drawingml/2006/main">
            <a:pPr>
              <a:defRPr sz="2850" b="0">
                <a:solidFill>
                  <a:srgbClr val="F6F3EC"/>
                </a:solidFill>
                <a:latin typeface="DejaVu Sans"/>
                <a:ea typeface="DejaVu Sans"/>
                <a:cs typeface="DejaVu Sans"/>
              </a:defRPr>
            </a:pPr>
            <a:r>
              <a:rPr sz="2850" b="0">
                <a:solidFill>
                  <a:srgbClr val="F6F3EC"/>
                </a:solidFill>
                <a:latin typeface="DejaVu Sans"/>
                <a:ea typeface="DejaVu Sans"/>
                <a:cs typeface="DejaVu Sans"/>
              </a:rPr>
              <a:t>USD50,000 contingency reserve</a:t>
            </a:r>
          </a:p>
        </p:txBody>
      </p:sp>
      <p:sp>
        <p:nvSpPr>
          <p:cNvPr id="3" name="">
            <a:extLst xmlns:a="http://schemas.openxmlformats.org/drawingml/2006/main">
              <a:ext uri="{FF2B5EF4-FFF2-40B4-BE49-F238E27FC236}">
                <a16:creationId xmlns:a16="http://schemas.microsoft.com/office/drawing/2014/main" id="{2CA925E5-E4EF-44D7-8ADD-D38DD58FE7EF}"/>
              </a:ext>
            </a:extLst>
          </p:cNvPr>
          <p:cNvSpPr>
            <a:spLocks xmlns:a="http://schemas.openxmlformats.org/drawingml/2006/main" noGrp="1"/>
          </p:cNvSpPr>
          <p:nvPr/>
        </p:nvSpPr>
        <p:spPr>
          <a:xfrm xmlns:a="http://schemas.openxmlformats.org/drawingml/2006/main">
            <a:off x="723900" y="5295900"/>
            <a:ext cx="107442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0">
                <a:solidFill>
                  <a:srgbClr val="B9CEBE"/>
                </a:solidFill>
                <a:latin typeface="DejaVu Sans"/>
                <a:ea typeface="DejaVu Sans"/>
                <a:cs typeface="DejaVu Sans"/>
              </a:defRPr>
            </a:defPPr>
            <a:lvl1pPr>
              <a:defRPr sz="1800" b="0">
                <a:solidFill>
                  <a:srgbClr val="B9CEBE"/>
                </a:solidFill>
                <a:latin typeface="DejaVu Sans"/>
                <a:ea typeface="DejaVu Sans"/>
                <a:cs typeface="DejaVu Sans"/>
              </a:defRPr>
            </a:lvl1pPr>
            <a:lvl2pPr>
              <a:defRPr sz="1800" b="0">
                <a:solidFill>
                  <a:srgbClr val="B9CEBE"/>
                </a:solidFill>
                <a:latin typeface="DejaVu Sans"/>
                <a:ea typeface="DejaVu Sans"/>
                <a:cs typeface="DejaVu Sans"/>
              </a:defRPr>
            </a:lvl2pPr>
            <a:lvl3pPr>
              <a:defRPr sz="1800" b="0">
                <a:solidFill>
                  <a:srgbClr val="B9CEBE"/>
                </a:solidFill>
                <a:latin typeface="DejaVu Sans"/>
                <a:ea typeface="DejaVu Sans"/>
                <a:cs typeface="DejaVu Sans"/>
              </a:defRPr>
            </a:lvl3pPr>
            <a:lvl4pPr>
              <a:defRPr sz="1800" b="0">
                <a:solidFill>
                  <a:srgbClr val="B9CEBE"/>
                </a:solidFill>
                <a:latin typeface="DejaVu Sans"/>
                <a:ea typeface="DejaVu Sans"/>
                <a:cs typeface="DejaVu Sans"/>
              </a:defRPr>
            </a:lvl4pPr>
            <a:lvl5pPr>
              <a:defRPr sz="1800" b="0">
                <a:solidFill>
                  <a:srgbClr val="B9CEBE"/>
                </a:solidFill>
                <a:latin typeface="DejaVu Sans"/>
                <a:ea typeface="DejaVu Sans"/>
                <a:cs typeface="DejaVu Sans"/>
              </a:defRPr>
            </a:lvl5pPr>
            <a:lvl6pPr>
              <a:defRPr sz="1800" b="0">
                <a:solidFill>
                  <a:srgbClr val="B9CEBE"/>
                </a:solidFill>
                <a:latin typeface="DejaVu Sans"/>
                <a:ea typeface="DejaVu Sans"/>
                <a:cs typeface="DejaVu Sans"/>
              </a:defRPr>
            </a:lvl6pPr>
            <a:lvl7pPr>
              <a:defRPr sz="1800" b="0">
                <a:solidFill>
                  <a:srgbClr val="B9CEBE"/>
                </a:solidFill>
                <a:latin typeface="DejaVu Sans"/>
                <a:ea typeface="DejaVu Sans"/>
                <a:cs typeface="DejaVu Sans"/>
              </a:defRPr>
            </a:lvl7pPr>
            <a:lvl8pPr>
              <a:defRPr sz="1800" b="0">
                <a:solidFill>
                  <a:srgbClr val="B9CEBE"/>
                </a:solidFill>
                <a:latin typeface="DejaVu Sans"/>
                <a:ea typeface="DejaVu Sans"/>
                <a:cs typeface="DejaVu Sans"/>
              </a:defRPr>
            </a:lvl8pPr>
            <a:lvl9pPr>
              <a:defRPr sz="1800" b="0">
                <a:solidFill>
                  <a:srgbClr val="B9CEBE"/>
                </a:solidFill>
                <a:latin typeface="DejaVu Sans"/>
                <a:ea typeface="DejaVu Sans"/>
                <a:cs typeface="DejaVu Sans"/>
              </a:defRPr>
            </a:lvl9pPr>
          </a:lstStyle>
          <a:p xmlns:a="http://schemas.openxmlformats.org/drawingml/2006/main">
            <a:pPr>
              <a:defRPr sz="1800" b="0">
                <a:solidFill>
                  <a:srgbClr val="B9CEBE"/>
                </a:solidFill>
                <a:latin typeface="DejaVu Sans"/>
                <a:ea typeface="DejaVu Sans"/>
                <a:cs typeface="DejaVu Sans"/>
              </a:defRPr>
            </a:pPr>
            <a:r>
              <a:rPr sz="1800" b="0">
                <a:solidFill>
                  <a:srgbClr val="B9CEBE"/>
                </a:solidFill>
                <a:latin typeface="DejaVu Sans"/>
                <a:ea typeface="DejaVu Sans"/>
                <a:cs typeface="DejaVu Sans"/>
              </a:rPr>
              <a:t>Draft planning ask. Founder and legal decisions remain open.</a:t>
            </a:r>
          </a:p>
        </p:txBody>
      </p:sp>
    </p:spTree>
    <p:extLst>
      <p:ext uri="{BB962C8B-B14F-4D97-AF65-F5344CB8AC3E}">
        <p14:creationId xmlns:p14="http://schemas.microsoft.com/office/powerpoint/2010/main" val="3343345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2026-10-29T07:19:20.2370000Z</dcterms:created>
  <dcterms:modified xsi:type="dcterms:W3CDTF">2026-10-29T07:19:20.2370000Z</dcterms:modified>
</coreProperties>
</file>